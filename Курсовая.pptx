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71" r:id="rId9"/>
    <p:sldId id="272" r:id="rId10"/>
    <p:sldId id="269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954EF663-5222-49B1-B014-AD59AAF5723C}">
          <p14:sldIdLst>
            <p14:sldId id="256"/>
          </p14:sldIdLst>
        </p14:section>
        <p14:section name="Общие показатели игры" id="{5A69FD98-5142-449B-86D1-96BB6CAE6D65}">
          <p14:sldIdLst>
            <p14:sldId id="257"/>
            <p14:sldId id="258"/>
            <p14:sldId id="259"/>
            <p14:sldId id="260"/>
            <p14:sldId id="261"/>
            <p14:sldId id="270"/>
            <p14:sldId id="271"/>
            <p14:sldId id="272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CFE2872-9B53-4E26-BA40-3529E7C65CFE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ru-RU"/>
        </a:p>
      </dgm:t>
    </dgm:pt>
    <dgm:pt modelId="{115AF57B-BBAB-4CC2-8F11-EA3124FACBFD}">
      <dgm:prSet/>
      <dgm:spPr/>
      <dgm:t>
        <a:bodyPr/>
        <a:lstStyle/>
        <a:p>
          <a:pPr>
            <a:lnSpc>
              <a:spcPct val="100000"/>
            </a:lnSpc>
          </a:pPr>
          <a:r>
            <a:rPr lang="ru-RU" b="1" i="0"/>
            <a:t>Общие показатели игры</a:t>
          </a:r>
          <a:endParaRPr lang="ru-RU"/>
        </a:p>
      </dgm:t>
    </dgm:pt>
    <dgm:pt modelId="{85B9DCCE-BB1C-4A28-B004-0924EFC86460}" type="parTrans" cxnId="{A7341F5C-96AC-4813-8B54-892816DE8ECB}">
      <dgm:prSet/>
      <dgm:spPr/>
      <dgm:t>
        <a:bodyPr/>
        <a:lstStyle/>
        <a:p>
          <a:endParaRPr lang="ru-RU"/>
        </a:p>
      </dgm:t>
    </dgm:pt>
    <dgm:pt modelId="{581EBCBB-0D60-4EC9-9584-430938DE9CED}" type="sibTrans" cxnId="{A7341F5C-96AC-4813-8B54-892816DE8ECB}">
      <dgm:prSet/>
      <dgm:spPr/>
      <dgm:t>
        <a:bodyPr/>
        <a:lstStyle/>
        <a:p>
          <a:pPr>
            <a:lnSpc>
              <a:spcPct val="100000"/>
            </a:lnSpc>
          </a:pPr>
          <a:endParaRPr lang="ru-RU"/>
        </a:p>
      </dgm:t>
    </dgm:pt>
    <dgm:pt modelId="{B7EF9C13-EE9C-481C-BFA2-0640D2E9A3B3}">
      <dgm:prSet/>
      <dgm:spPr/>
      <dgm:t>
        <a:bodyPr/>
        <a:lstStyle/>
        <a:p>
          <a:pPr>
            <a:lnSpc>
              <a:spcPct val="100000"/>
            </a:lnSpc>
          </a:pPr>
          <a:r>
            <a:rPr lang="ru-RU" b="1"/>
            <a:t>Технические проблемы</a:t>
          </a:r>
        </a:p>
      </dgm:t>
    </dgm:pt>
    <dgm:pt modelId="{9CD0E83C-2BC0-4C0E-A7BD-4C568D6C18EB}" type="parTrans" cxnId="{52F87822-64BE-452E-B1A1-225CC699BB39}">
      <dgm:prSet/>
      <dgm:spPr/>
      <dgm:t>
        <a:bodyPr/>
        <a:lstStyle/>
        <a:p>
          <a:endParaRPr lang="ru-RU"/>
        </a:p>
      </dgm:t>
    </dgm:pt>
    <dgm:pt modelId="{BECF0DC0-5D16-4B9A-999F-B8839A648F82}" type="sibTrans" cxnId="{52F87822-64BE-452E-B1A1-225CC699BB39}">
      <dgm:prSet/>
      <dgm:spPr/>
      <dgm:t>
        <a:bodyPr/>
        <a:lstStyle/>
        <a:p>
          <a:pPr>
            <a:lnSpc>
              <a:spcPct val="100000"/>
            </a:lnSpc>
          </a:pPr>
          <a:endParaRPr lang="ru-RU"/>
        </a:p>
      </dgm:t>
    </dgm:pt>
    <dgm:pt modelId="{05789451-BAD8-4FC2-809E-D77FF56373CB}">
      <dgm:prSet/>
      <dgm:spPr/>
      <dgm:t>
        <a:bodyPr/>
        <a:lstStyle/>
        <a:p>
          <a:pPr>
            <a:lnSpc>
              <a:spcPct val="100000"/>
            </a:lnSpc>
          </a:pPr>
          <a:r>
            <a:rPr lang="ru-RU" b="1" i="0"/>
            <a:t>Маркетинговая активность </a:t>
          </a:r>
          <a:endParaRPr lang="ru-RU"/>
        </a:p>
      </dgm:t>
    </dgm:pt>
    <dgm:pt modelId="{433689A5-1332-4D8C-BBBA-58DB7F774501}" type="parTrans" cxnId="{B4546B1C-3DDC-465E-8A22-9F0DA43F2DCC}">
      <dgm:prSet/>
      <dgm:spPr/>
      <dgm:t>
        <a:bodyPr/>
        <a:lstStyle/>
        <a:p>
          <a:endParaRPr lang="ru-RU"/>
        </a:p>
      </dgm:t>
    </dgm:pt>
    <dgm:pt modelId="{BE9025C2-4F54-4D8F-BB23-3107C30166B6}" type="sibTrans" cxnId="{B4546B1C-3DDC-465E-8A22-9F0DA43F2DCC}">
      <dgm:prSet/>
      <dgm:spPr/>
      <dgm:t>
        <a:bodyPr/>
        <a:lstStyle/>
        <a:p>
          <a:pPr>
            <a:lnSpc>
              <a:spcPct val="100000"/>
            </a:lnSpc>
          </a:pPr>
          <a:endParaRPr lang="ru-RU"/>
        </a:p>
      </dgm:t>
    </dgm:pt>
    <dgm:pt modelId="{33E59A25-382D-4FD9-9A6E-88F5C99A557A}">
      <dgm:prSet/>
      <dgm:spPr/>
      <dgm:t>
        <a:bodyPr/>
        <a:lstStyle/>
        <a:p>
          <a:pPr>
            <a:lnSpc>
              <a:spcPct val="100000"/>
            </a:lnSpc>
          </a:pPr>
          <a:r>
            <a:rPr lang="ru-RU" b="1" i="0"/>
            <a:t>Финановые показатели</a:t>
          </a:r>
          <a:endParaRPr lang="ru-RU"/>
        </a:p>
      </dgm:t>
    </dgm:pt>
    <dgm:pt modelId="{65EABE55-0602-49F1-975A-B4C2D821338F}" type="parTrans" cxnId="{2AB6CFA1-4E00-4CC4-9DB1-F1F22F33B64F}">
      <dgm:prSet/>
      <dgm:spPr/>
      <dgm:t>
        <a:bodyPr/>
        <a:lstStyle/>
        <a:p>
          <a:endParaRPr lang="ru-RU"/>
        </a:p>
      </dgm:t>
    </dgm:pt>
    <dgm:pt modelId="{D11DC16D-0349-4E58-A211-AC8989AB3A8E}" type="sibTrans" cxnId="{2AB6CFA1-4E00-4CC4-9DB1-F1F22F33B64F}">
      <dgm:prSet/>
      <dgm:spPr/>
      <dgm:t>
        <a:bodyPr/>
        <a:lstStyle/>
        <a:p>
          <a:endParaRPr lang="ru-RU"/>
        </a:p>
      </dgm:t>
    </dgm:pt>
    <dgm:pt modelId="{8239E016-69CA-49E5-84A7-E2191D622C06}" type="pres">
      <dgm:prSet presAssocID="{2CFE2872-9B53-4E26-BA40-3529E7C65CFE}" presName="root" presStyleCnt="0">
        <dgm:presLayoutVars>
          <dgm:dir/>
          <dgm:resizeHandles val="exact"/>
        </dgm:presLayoutVars>
      </dgm:prSet>
      <dgm:spPr/>
    </dgm:pt>
    <dgm:pt modelId="{AA6AF3F5-73D7-4C63-98CB-CDF168E568CA}" type="pres">
      <dgm:prSet presAssocID="{2CFE2872-9B53-4E26-BA40-3529E7C65CFE}" presName="container" presStyleCnt="0">
        <dgm:presLayoutVars>
          <dgm:dir/>
          <dgm:resizeHandles val="exact"/>
        </dgm:presLayoutVars>
      </dgm:prSet>
      <dgm:spPr/>
    </dgm:pt>
    <dgm:pt modelId="{C7144F88-2412-49A2-A952-B749C14428CB}" type="pres">
      <dgm:prSet presAssocID="{115AF57B-BBAB-4CC2-8F11-EA3124FACBFD}" presName="compNode" presStyleCnt="0"/>
      <dgm:spPr/>
    </dgm:pt>
    <dgm:pt modelId="{12C2F570-7E9B-4432-B0DB-A065C778895C}" type="pres">
      <dgm:prSet presAssocID="{115AF57B-BBAB-4CC2-8F11-EA3124FACBFD}" presName="iconBgRect" presStyleLbl="bgShp" presStyleIdx="0" presStyleCnt="4"/>
      <dgm:spPr/>
    </dgm:pt>
    <dgm:pt modelId="{22DBCEDC-FE4B-4634-A157-71424B778DC6}" type="pres">
      <dgm:prSet presAssocID="{115AF57B-BBAB-4CC2-8F11-EA3124FACBF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Флажок"/>
        </a:ext>
      </dgm:extLst>
    </dgm:pt>
    <dgm:pt modelId="{7C4412AC-B14D-49FC-B2DD-4D56DB6086B2}" type="pres">
      <dgm:prSet presAssocID="{115AF57B-BBAB-4CC2-8F11-EA3124FACBFD}" presName="spaceRect" presStyleCnt="0"/>
      <dgm:spPr/>
    </dgm:pt>
    <dgm:pt modelId="{46E7F1AE-FC54-414B-A01D-C223D8740F54}" type="pres">
      <dgm:prSet presAssocID="{115AF57B-BBAB-4CC2-8F11-EA3124FACBFD}" presName="textRect" presStyleLbl="revTx" presStyleIdx="0" presStyleCnt="4">
        <dgm:presLayoutVars>
          <dgm:chMax val="1"/>
          <dgm:chPref val="1"/>
        </dgm:presLayoutVars>
      </dgm:prSet>
      <dgm:spPr/>
    </dgm:pt>
    <dgm:pt modelId="{13CA09E1-3E32-492E-84A1-6D57A70858B6}" type="pres">
      <dgm:prSet presAssocID="{581EBCBB-0D60-4EC9-9584-430938DE9CED}" presName="sibTrans" presStyleLbl="sibTrans2D1" presStyleIdx="0" presStyleCnt="0"/>
      <dgm:spPr/>
    </dgm:pt>
    <dgm:pt modelId="{B063AA39-CC1A-4D78-AA7F-5B32C733FE76}" type="pres">
      <dgm:prSet presAssocID="{B7EF9C13-EE9C-481C-BFA2-0640D2E9A3B3}" presName="compNode" presStyleCnt="0"/>
      <dgm:spPr/>
    </dgm:pt>
    <dgm:pt modelId="{FCF2BCC6-F030-43A8-AE5F-907F1113EC76}" type="pres">
      <dgm:prSet presAssocID="{B7EF9C13-EE9C-481C-BFA2-0640D2E9A3B3}" presName="iconBgRect" presStyleLbl="bgShp" presStyleIdx="1" presStyleCnt="4"/>
      <dgm:spPr/>
    </dgm:pt>
    <dgm:pt modelId="{DA058A74-A0C0-4102-A3BA-7181EA66E993}" type="pres">
      <dgm:prSet presAssocID="{B7EF9C13-EE9C-481C-BFA2-0640D2E9A3B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Предупреждение"/>
        </a:ext>
      </dgm:extLst>
    </dgm:pt>
    <dgm:pt modelId="{2641FFB0-2A74-4DD9-841B-D73F1186B6F6}" type="pres">
      <dgm:prSet presAssocID="{B7EF9C13-EE9C-481C-BFA2-0640D2E9A3B3}" presName="spaceRect" presStyleCnt="0"/>
      <dgm:spPr/>
    </dgm:pt>
    <dgm:pt modelId="{E5249AB9-7B12-4E09-A88F-5F1B04703B1C}" type="pres">
      <dgm:prSet presAssocID="{B7EF9C13-EE9C-481C-BFA2-0640D2E9A3B3}" presName="textRect" presStyleLbl="revTx" presStyleIdx="1" presStyleCnt="4">
        <dgm:presLayoutVars>
          <dgm:chMax val="1"/>
          <dgm:chPref val="1"/>
        </dgm:presLayoutVars>
      </dgm:prSet>
      <dgm:spPr/>
    </dgm:pt>
    <dgm:pt modelId="{4B1828B9-2011-4DB7-8233-9C75930B8B99}" type="pres">
      <dgm:prSet presAssocID="{BECF0DC0-5D16-4B9A-999F-B8839A648F82}" presName="sibTrans" presStyleLbl="sibTrans2D1" presStyleIdx="0" presStyleCnt="0"/>
      <dgm:spPr/>
    </dgm:pt>
    <dgm:pt modelId="{0C81F68A-0205-4545-920B-D77762563B4F}" type="pres">
      <dgm:prSet presAssocID="{05789451-BAD8-4FC2-809E-D77FF56373CB}" presName="compNode" presStyleCnt="0"/>
      <dgm:spPr/>
    </dgm:pt>
    <dgm:pt modelId="{02FDE2DA-5930-4ECA-B2D1-D93FAE3B67D5}" type="pres">
      <dgm:prSet presAssocID="{05789451-BAD8-4FC2-809E-D77FF56373CB}" presName="iconBgRect" presStyleLbl="bgShp" presStyleIdx="2" presStyleCnt="4"/>
      <dgm:spPr/>
    </dgm:pt>
    <dgm:pt modelId="{56D86A33-0FB4-44D7-A33A-6C17C1E27581}" type="pres">
      <dgm:prSet presAssocID="{05789451-BAD8-4FC2-809E-D77FF56373C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Карандаш"/>
        </a:ext>
      </dgm:extLst>
    </dgm:pt>
    <dgm:pt modelId="{A60DE473-7BB2-47DE-90E4-0155F9A4DE11}" type="pres">
      <dgm:prSet presAssocID="{05789451-BAD8-4FC2-809E-D77FF56373CB}" presName="spaceRect" presStyleCnt="0"/>
      <dgm:spPr/>
    </dgm:pt>
    <dgm:pt modelId="{7B20A0E8-0F81-4561-8142-74C4115AA677}" type="pres">
      <dgm:prSet presAssocID="{05789451-BAD8-4FC2-809E-D77FF56373CB}" presName="textRect" presStyleLbl="revTx" presStyleIdx="2" presStyleCnt="4">
        <dgm:presLayoutVars>
          <dgm:chMax val="1"/>
          <dgm:chPref val="1"/>
        </dgm:presLayoutVars>
      </dgm:prSet>
      <dgm:spPr/>
    </dgm:pt>
    <dgm:pt modelId="{4857EAED-4640-4CE1-9C28-E6F7AA4BDD2A}" type="pres">
      <dgm:prSet presAssocID="{BE9025C2-4F54-4D8F-BB23-3107C30166B6}" presName="sibTrans" presStyleLbl="sibTrans2D1" presStyleIdx="0" presStyleCnt="0"/>
      <dgm:spPr/>
    </dgm:pt>
    <dgm:pt modelId="{C837B62B-AC44-4C57-BB69-F01FBCFAD4B8}" type="pres">
      <dgm:prSet presAssocID="{33E59A25-382D-4FD9-9A6E-88F5C99A557A}" presName="compNode" presStyleCnt="0"/>
      <dgm:spPr/>
    </dgm:pt>
    <dgm:pt modelId="{2B839E0D-92D2-430C-8AD1-3097EA07A750}" type="pres">
      <dgm:prSet presAssocID="{33E59A25-382D-4FD9-9A6E-88F5C99A557A}" presName="iconBgRect" presStyleLbl="bgShp" presStyleIdx="3" presStyleCnt="4"/>
      <dgm:spPr/>
    </dgm:pt>
    <dgm:pt modelId="{8D25F1EB-CCDE-4738-BE08-7AC3AA18ADE8}" type="pres">
      <dgm:prSet presAssocID="{33E59A25-382D-4FD9-9A6E-88F5C99A557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79A6D6D6-5C4C-4766-830B-90E480F4FA1D}" type="pres">
      <dgm:prSet presAssocID="{33E59A25-382D-4FD9-9A6E-88F5C99A557A}" presName="spaceRect" presStyleCnt="0"/>
      <dgm:spPr/>
    </dgm:pt>
    <dgm:pt modelId="{660D613E-D19B-487F-B032-6DE4356C14E8}" type="pres">
      <dgm:prSet presAssocID="{33E59A25-382D-4FD9-9A6E-88F5C99A557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4546B1C-3DDC-465E-8A22-9F0DA43F2DCC}" srcId="{2CFE2872-9B53-4E26-BA40-3529E7C65CFE}" destId="{05789451-BAD8-4FC2-809E-D77FF56373CB}" srcOrd="2" destOrd="0" parTransId="{433689A5-1332-4D8C-BBBA-58DB7F774501}" sibTransId="{BE9025C2-4F54-4D8F-BB23-3107C30166B6}"/>
    <dgm:cxn modelId="{52F87822-64BE-452E-B1A1-225CC699BB39}" srcId="{2CFE2872-9B53-4E26-BA40-3529E7C65CFE}" destId="{B7EF9C13-EE9C-481C-BFA2-0640D2E9A3B3}" srcOrd="1" destOrd="0" parTransId="{9CD0E83C-2BC0-4C0E-A7BD-4C568D6C18EB}" sibTransId="{BECF0DC0-5D16-4B9A-999F-B8839A648F82}"/>
    <dgm:cxn modelId="{A7341F5C-96AC-4813-8B54-892816DE8ECB}" srcId="{2CFE2872-9B53-4E26-BA40-3529E7C65CFE}" destId="{115AF57B-BBAB-4CC2-8F11-EA3124FACBFD}" srcOrd="0" destOrd="0" parTransId="{85B9DCCE-BB1C-4A28-B004-0924EFC86460}" sibTransId="{581EBCBB-0D60-4EC9-9584-430938DE9CED}"/>
    <dgm:cxn modelId="{E5113365-E707-4F11-A1B4-CCB82BBF501F}" type="presOf" srcId="{B7EF9C13-EE9C-481C-BFA2-0640D2E9A3B3}" destId="{E5249AB9-7B12-4E09-A88F-5F1B04703B1C}" srcOrd="0" destOrd="0" presId="urn:microsoft.com/office/officeart/2018/2/layout/IconCircleList"/>
    <dgm:cxn modelId="{31991C48-4D6E-4C7E-B569-9343772005FD}" type="presOf" srcId="{05789451-BAD8-4FC2-809E-D77FF56373CB}" destId="{7B20A0E8-0F81-4561-8142-74C4115AA677}" srcOrd="0" destOrd="0" presId="urn:microsoft.com/office/officeart/2018/2/layout/IconCircleList"/>
    <dgm:cxn modelId="{BCB5EA6B-8C98-4BB1-B79A-C4B0CB268421}" type="presOf" srcId="{33E59A25-382D-4FD9-9A6E-88F5C99A557A}" destId="{660D613E-D19B-487F-B032-6DE4356C14E8}" srcOrd="0" destOrd="0" presId="urn:microsoft.com/office/officeart/2018/2/layout/IconCircleList"/>
    <dgm:cxn modelId="{EDF76672-F3A2-4F60-AE37-014B8D25E75E}" type="presOf" srcId="{581EBCBB-0D60-4EC9-9584-430938DE9CED}" destId="{13CA09E1-3E32-492E-84A1-6D57A70858B6}" srcOrd="0" destOrd="0" presId="urn:microsoft.com/office/officeart/2018/2/layout/IconCircleList"/>
    <dgm:cxn modelId="{7D0A0389-E3F9-471E-AA1D-C2C68EF20C5F}" type="presOf" srcId="{BECF0DC0-5D16-4B9A-999F-B8839A648F82}" destId="{4B1828B9-2011-4DB7-8233-9C75930B8B99}" srcOrd="0" destOrd="0" presId="urn:microsoft.com/office/officeart/2018/2/layout/IconCircleList"/>
    <dgm:cxn modelId="{2AB6CFA1-4E00-4CC4-9DB1-F1F22F33B64F}" srcId="{2CFE2872-9B53-4E26-BA40-3529E7C65CFE}" destId="{33E59A25-382D-4FD9-9A6E-88F5C99A557A}" srcOrd="3" destOrd="0" parTransId="{65EABE55-0602-49F1-975A-B4C2D821338F}" sibTransId="{D11DC16D-0349-4E58-A211-AC8989AB3A8E}"/>
    <dgm:cxn modelId="{6C4AEBA9-A528-4980-8316-C67B4B56A700}" type="presOf" srcId="{2CFE2872-9B53-4E26-BA40-3529E7C65CFE}" destId="{8239E016-69CA-49E5-84A7-E2191D622C06}" srcOrd="0" destOrd="0" presId="urn:microsoft.com/office/officeart/2018/2/layout/IconCircleList"/>
    <dgm:cxn modelId="{D7B4F0DA-6EA7-4758-A1AB-4C772F2A3FFA}" type="presOf" srcId="{115AF57B-BBAB-4CC2-8F11-EA3124FACBFD}" destId="{46E7F1AE-FC54-414B-A01D-C223D8740F54}" srcOrd="0" destOrd="0" presId="urn:microsoft.com/office/officeart/2018/2/layout/IconCircleList"/>
    <dgm:cxn modelId="{A61406EC-AB2C-4E2F-BD59-0A1C3FF48CC1}" type="presOf" srcId="{BE9025C2-4F54-4D8F-BB23-3107C30166B6}" destId="{4857EAED-4640-4CE1-9C28-E6F7AA4BDD2A}" srcOrd="0" destOrd="0" presId="urn:microsoft.com/office/officeart/2018/2/layout/IconCircleList"/>
    <dgm:cxn modelId="{74876215-FF84-4583-8782-5E2F56A47EBE}" type="presParOf" srcId="{8239E016-69CA-49E5-84A7-E2191D622C06}" destId="{AA6AF3F5-73D7-4C63-98CB-CDF168E568CA}" srcOrd="0" destOrd="0" presId="urn:microsoft.com/office/officeart/2018/2/layout/IconCircleList"/>
    <dgm:cxn modelId="{E6F93E77-B08F-4952-851C-78888C5CA571}" type="presParOf" srcId="{AA6AF3F5-73D7-4C63-98CB-CDF168E568CA}" destId="{C7144F88-2412-49A2-A952-B749C14428CB}" srcOrd="0" destOrd="0" presId="urn:microsoft.com/office/officeart/2018/2/layout/IconCircleList"/>
    <dgm:cxn modelId="{AEDF4E03-BDBD-43C2-8970-056245F9901D}" type="presParOf" srcId="{C7144F88-2412-49A2-A952-B749C14428CB}" destId="{12C2F570-7E9B-4432-B0DB-A065C778895C}" srcOrd="0" destOrd="0" presId="urn:microsoft.com/office/officeart/2018/2/layout/IconCircleList"/>
    <dgm:cxn modelId="{4A411CF8-67E8-4791-ABA5-74B697E715FD}" type="presParOf" srcId="{C7144F88-2412-49A2-A952-B749C14428CB}" destId="{22DBCEDC-FE4B-4634-A157-71424B778DC6}" srcOrd="1" destOrd="0" presId="urn:microsoft.com/office/officeart/2018/2/layout/IconCircleList"/>
    <dgm:cxn modelId="{9D365E21-1E08-404D-9BBB-D1A909F20709}" type="presParOf" srcId="{C7144F88-2412-49A2-A952-B749C14428CB}" destId="{7C4412AC-B14D-49FC-B2DD-4D56DB6086B2}" srcOrd="2" destOrd="0" presId="urn:microsoft.com/office/officeart/2018/2/layout/IconCircleList"/>
    <dgm:cxn modelId="{D088371E-DDDC-441B-9EEF-159D98BA5AE7}" type="presParOf" srcId="{C7144F88-2412-49A2-A952-B749C14428CB}" destId="{46E7F1AE-FC54-414B-A01D-C223D8740F54}" srcOrd="3" destOrd="0" presId="urn:microsoft.com/office/officeart/2018/2/layout/IconCircleList"/>
    <dgm:cxn modelId="{BFE9D7AA-6F9B-4A55-838B-60FCA8119FF8}" type="presParOf" srcId="{AA6AF3F5-73D7-4C63-98CB-CDF168E568CA}" destId="{13CA09E1-3E32-492E-84A1-6D57A70858B6}" srcOrd="1" destOrd="0" presId="urn:microsoft.com/office/officeart/2018/2/layout/IconCircleList"/>
    <dgm:cxn modelId="{10DD16ED-E039-4B36-84A4-2029852CE6C4}" type="presParOf" srcId="{AA6AF3F5-73D7-4C63-98CB-CDF168E568CA}" destId="{B063AA39-CC1A-4D78-AA7F-5B32C733FE76}" srcOrd="2" destOrd="0" presId="urn:microsoft.com/office/officeart/2018/2/layout/IconCircleList"/>
    <dgm:cxn modelId="{0524D4CF-E578-4C81-B346-77605A851EE2}" type="presParOf" srcId="{B063AA39-CC1A-4D78-AA7F-5B32C733FE76}" destId="{FCF2BCC6-F030-43A8-AE5F-907F1113EC76}" srcOrd="0" destOrd="0" presId="urn:microsoft.com/office/officeart/2018/2/layout/IconCircleList"/>
    <dgm:cxn modelId="{C90B3842-7B8A-423D-B5E3-3DFA44B7815A}" type="presParOf" srcId="{B063AA39-CC1A-4D78-AA7F-5B32C733FE76}" destId="{DA058A74-A0C0-4102-A3BA-7181EA66E993}" srcOrd="1" destOrd="0" presId="urn:microsoft.com/office/officeart/2018/2/layout/IconCircleList"/>
    <dgm:cxn modelId="{F083D4F3-D679-4C24-81B1-7C1FE1FE2514}" type="presParOf" srcId="{B063AA39-CC1A-4D78-AA7F-5B32C733FE76}" destId="{2641FFB0-2A74-4DD9-841B-D73F1186B6F6}" srcOrd="2" destOrd="0" presId="urn:microsoft.com/office/officeart/2018/2/layout/IconCircleList"/>
    <dgm:cxn modelId="{E045B20D-1FC3-459E-B0B2-FEB6C2285A52}" type="presParOf" srcId="{B063AA39-CC1A-4D78-AA7F-5B32C733FE76}" destId="{E5249AB9-7B12-4E09-A88F-5F1B04703B1C}" srcOrd="3" destOrd="0" presId="urn:microsoft.com/office/officeart/2018/2/layout/IconCircleList"/>
    <dgm:cxn modelId="{F1A0677C-E181-4B1B-9101-B0A951748667}" type="presParOf" srcId="{AA6AF3F5-73D7-4C63-98CB-CDF168E568CA}" destId="{4B1828B9-2011-4DB7-8233-9C75930B8B99}" srcOrd="3" destOrd="0" presId="urn:microsoft.com/office/officeart/2018/2/layout/IconCircleList"/>
    <dgm:cxn modelId="{DBD46AB4-8A2C-485D-8EA0-25951E68FAC5}" type="presParOf" srcId="{AA6AF3F5-73D7-4C63-98CB-CDF168E568CA}" destId="{0C81F68A-0205-4545-920B-D77762563B4F}" srcOrd="4" destOrd="0" presId="urn:microsoft.com/office/officeart/2018/2/layout/IconCircleList"/>
    <dgm:cxn modelId="{CDF36C18-7CCF-4A53-82E7-ADCC1D9C6B4F}" type="presParOf" srcId="{0C81F68A-0205-4545-920B-D77762563B4F}" destId="{02FDE2DA-5930-4ECA-B2D1-D93FAE3B67D5}" srcOrd="0" destOrd="0" presId="urn:microsoft.com/office/officeart/2018/2/layout/IconCircleList"/>
    <dgm:cxn modelId="{34E7A2D3-1529-4B39-A4EC-3E3F212CEB11}" type="presParOf" srcId="{0C81F68A-0205-4545-920B-D77762563B4F}" destId="{56D86A33-0FB4-44D7-A33A-6C17C1E27581}" srcOrd="1" destOrd="0" presId="urn:microsoft.com/office/officeart/2018/2/layout/IconCircleList"/>
    <dgm:cxn modelId="{70DF3711-7561-497D-B25D-B3C4E60B24E9}" type="presParOf" srcId="{0C81F68A-0205-4545-920B-D77762563B4F}" destId="{A60DE473-7BB2-47DE-90E4-0155F9A4DE11}" srcOrd="2" destOrd="0" presId="urn:microsoft.com/office/officeart/2018/2/layout/IconCircleList"/>
    <dgm:cxn modelId="{350C4BBB-EE37-41D0-BA86-0A17B1E65F69}" type="presParOf" srcId="{0C81F68A-0205-4545-920B-D77762563B4F}" destId="{7B20A0E8-0F81-4561-8142-74C4115AA677}" srcOrd="3" destOrd="0" presId="urn:microsoft.com/office/officeart/2018/2/layout/IconCircleList"/>
    <dgm:cxn modelId="{F290C8D6-9E40-4EA7-924B-D1A049907B1E}" type="presParOf" srcId="{AA6AF3F5-73D7-4C63-98CB-CDF168E568CA}" destId="{4857EAED-4640-4CE1-9C28-E6F7AA4BDD2A}" srcOrd="5" destOrd="0" presId="urn:microsoft.com/office/officeart/2018/2/layout/IconCircleList"/>
    <dgm:cxn modelId="{04FEFD8B-5A25-478B-9B60-6890D0ACFB94}" type="presParOf" srcId="{AA6AF3F5-73D7-4C63-98CB-CDF168E568CA}" destId="{C837B62B-AC44-4C57-BB69-F01FBCFAD4B8}" srcOrd="6" destOrd="0" presId="urn:microsoft.com/office/officeart/2018/2/layout/IconCircleList"/>
    <dgm:cxn modelId="{7C6C9760-8DAE-495F-9635-AF8DC5C774F0}" type="presParOf" srcId="{C837B62B-AC44-4C57-BB69-F01FBCFAD4B8}" destId="{2B839E0D-92D2-430C-8AD1-3097EA07A750}" srcOrd="0" destOrd="0" presId="urn:microsoft.com/office/officeart/2018/2/layout/IconCircleList"/>
    <dgm:cxn modelId="{48FC2B6A-88D0-4173-8B02-0F8D95A45DDD}" type="presParOf" srcId="{C837B62B-AC44-4C57-BB69-F01FBCFAD4B8}" destId="{8D25F1EB-CCDE-4738-BE08-7AC3AA18ADE8}" srcOrd="1" destOrd="0" presId="urn:microsoft.com/office/officeart/2018/2/layout/IconCircleList"/>
    <dgm:cxn modelId="{7964B702-187C-4AE0-AAA3-D7EECD76EFC8}" type="presParOf" srcId="{C837B62B-AC44-4C57-BB69-F01FBCFAD4B8}" destId="{79A6D6D6-5C4C-4766-830B-90E480F4FA1D}" srcOrd="2" destOrd="0" presId="urn:microsoft.com/office/officeart/2018/2/layout/IconCircleList"/>
    <dgm:cxn modelId="{CE43BA00-92E3-4348-8B3E-ACEDE9EF7DDE}" type="presParOf" srcId="{C837B62B-AC44-4C57-BB69-F01FBCFAD4B8}" destId="{660D613E-D19B-487F-B032-6DE4356C14E8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C2F570-7E9B-4432-B0DB-A065C778895C}">
      <dsp:nvSpPr>
        <dsp:cNvPr id="0" name=""/>
        <dsp:cNvSpPr/>
      </dsp:nvSpPr>
      <dsp:spPr>
        <a:xfrm>
          <a:off x="212335" y="469890"/>
          <a:ext cx="1335915" cy="133591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DBCEDC-FE4B-4634-A157-71424B778DC6}">
      <dsp:nvSpPr>
        <dsp:cNvPr id="0" name=""/>
        <dsp:cNvSpPr/>
      </dsp:nvSpPr>
      <dsp:spPr>
        <a:xfrm>
          <a:off x="492877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E7F1AE-FC54-414B-A01D-C223D8740F54}">
      <dsp:nvSpPr>
        <dsp:cNvPr id="0" name=""/>
        <dsp:cNvSpPr/>
      </dsp:nvSpPr>
      <dsp:spPr>
        <a:xfrm>
          <a:off x="1834517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i="0" kern="1200"/>
            <a:t>Общие показатели игры</a:t>
          </a:r>
          <a:endParaRPr lang="ru-RU" sz="2400" kern="1200"/>
        </a:p>
      </dsp:txBody>
      <dsp:txXfrm>
        <a:off x="1834517" y="469890"/>
        <a:ext cx="3148942" cy="1335915"/>
      </dsp:txXfrm>
    </dsp:sp>
    <dsp:sp modelId="{FCF2BCC6-F030-43A8-AE5F-907F1113EC76}">
      <dsp:nvSpPr>
        <dsp:cNvPr id="0" name=""/>
        <dsp:cNvSpPr/>
      </dsp:nvSpPr>
      <dsp:spPr>
        <a:xfrm>
          <a:off x="5532139" y="469890"/>
          <a:ext cx="1335915" cy="133591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058A74-A0C0-4102-A3BA-7181EA66E993}">
      <dsp:nvSpPr>
        <dsp:cNvPr id="0" name=""/>
        <dsp:cNvSpPr/>
      </dsp:nvSpPr>
      <dsp:spPr>
        <a:xfrm>
          <a:off x="5812681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249AB9-7B12-4E09-A88F-5F1B04703B1C}">
      <dsp:nvSpPr>
        <dsp:cNvPr id="0" name=""/>
        <dsp:cNvSpPr/>
      </dsp:nvSpPr>
      <dsp:spPr>
        <a:xfrm>
          <a:off x="7154322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/>
            <a:t>Технические проблемы</a:t>
          </a:r>
        </a:p>
      </dsp:txBody>
      <dsp:txXfrm>
        <a:off x="7154322" y="469890"/>
        <a:ext cx="3148942" cy="1335915"/>
      </dsp:txXfrm>
    </dsp:sp>
    <dsp:sp modelId="{02FDE2DA-5930-4ECA-B2D1-D93FAE3B67D5}">
      <dsp:nvSpPr>
        <dsp:cNvPr id="0" name=""/>
        <dsp:cNvSpPr/>
      </dsp:nvSpPr>
      <dsp:spPr>
        <a:xfrm>
          <a:off x="212335" y="2545532"/>
          <a:ext cx="1335915" cy="133591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D86A33-0FB4-44D7-A33A-6C17C1E27581}">
      <dsp:nvSpPr>
        <dsp:cNvPr id="0" name=""/>
        <dsp:cNvSpPr/>
      </dsp:nvSpPr>
      <dsp:spPr>
        <a:xfrm>
          <a:off x="492877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20A0E8-0F81-4561-8142-74C4115AA677}">
      <dsp:nvSpPr>
        <dsp:cNvPr id="0" name=""/>
        <dsp:cNvSpPr/>
      </dsp:nvSpPr>
      <dsp:spPr>
        <a:xfrm>
          <a:off x="1834517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i="0" kern="1200"/>
            <a:t>Маркетинговая активность </a:t>
          </a:r>
          <a:endParaRPr lang="ru-RU" sz="2400" kern="1200"/>
        </a:p>
      </dsp:txBody>
      <dsp:txXfrm>
        <a:off x="1834517" y="2545532"/>
        <a:ext cx="3148942" cy="1335915"/>
      </dsp:txXfrm>
    </dsp:sp>
    <dsp:sp modelId="{2B839E0D-92D2-430C-8AD1-3097EA07A750}">
      <dsp:nvSpPr>
        <dsp:cNvPr id="0" name=""/>
        <dsp:cNvSpPr/>
      </dsp:nvSpPr>
      <dsp:spPr>
        <a:xfrm>
          <a:off x="5532139" y="2545532"/>
          <a:ext cx="1335915" cy="133591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25F1EB-CCDE-4738-BE08-7AC3AA18ADE8}">
      <dsp:nvSpPr>
        <dsp:cNvPr id="0" name=""/>
        <dsp:cNvSpPr/>
      </dsp:nvSpPr>
      <dsp:spPr>
        <a:xfrm>
          <a:off x="5812681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0D613E-D19B-487F-B032-6DE4356C14E8}">
      <dsp:nvSpPr>
        <dsp:cNvPr id="0" name=""/>
        <dsp:cNvSpPr/>
      </dsp:nvSpPr>
      <dsp:spPr>
        <a:xfrm>
          <a:off x="7154322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i="0" kern="1200"/>
            <a:t>Финановые показатели</a:t>
          </a:r>
          <a:endParaRPr lang="ru-RU" sz="2400" kern="1200"/>
        </a:p>
      </dsp:txBody>
      <dsp:txXfrm>
        <a:off x="7154322" y="2545532"/>
        <a:ext cx="3148942" cy="13359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01CD9D-2E97-42F3-83BA-328BD5785DA9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DA4157-9B3F-4D41-92F0-69FC3D5070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3516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DA4157-9B3F-4D41-92F0-69FC3D507030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810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C28B1B-1CFC-BF1F-3B9E-A6EB43C14E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6C24A9B-5D22-7298-4C63-BB6E4ED17D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26928BB-EBA5-8077-8D7F-44C939BEE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05899-ABEF-4245-9B8D-D8F974FB884E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8955C0-AED4-DF30-B256-65DA5FF3C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8C84B6-8A49-01EB-D0C6-F6295B7DB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6866B-E80D-4C2E-8D55-8F8E518706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8382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D1537C-9E83-9B33-0D27-15E825E24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2B5CA1-3F05-709D-E028-586FC22F8D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BE0078-7462-CA82-4FBB-C0A416259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05899-ABEF-4245-9B8D-D8F974FB884E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35533C-A3DD-49A3-4C96-CE40B7914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15D7FA9-6EB3-9E58-794A-8403977E6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6866B-E80D-4C2E-8D55-8F8E518706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2343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18117-4222-430F-46A1-660762EA4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BC6CF5E-AE6A-3A63-9763-F590E9B57A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7AFAB10-5CE6-0C0A-8143-905B3E7C5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05899-ABEF-4245-9B8D-D8F974FB884E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CC9FF8D-F985-DE8E-B7D2-7E4ED41A8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EC960F-DB09-D730-6070-92B576B3B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6866B-E80D-4C2E-8D55-8F8E518706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7877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FCB111-09B8-81AB-5DA5-E78ED305D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8DBE4E-29AF-A308-BE91-0B7DB89AA0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911C9DA-6302-4EF9-47FE-AF38C1C45E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B84ECB4-C124-84E5-B785-198850383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05899-ABEF-4245-9B8D-D8F974FB884E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027C115-F278-7FE7-AB02-3ACD26787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54EA225-C50E-5C0D-8C3B-639079313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6866B-E80D-4C2E-8D55-8F8E518706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9766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3E4CF5-03BB-A2CF-60FC-C6A80437E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2FEA771-220F-8294-0380-60E363184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FA41A6F-4163-7BA9-07C4-766C14A1A4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88F2CFD-08E6-3913-1476-DBA65C71AB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D34650C-D1A0-2339-EE8C-C43EC0183E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15A27F2-50AB-ABE8-836B-2F0F3369D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05899-ABEF-4245-9B8D-D8F974FB884E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10324A6-2BD9-6665-B072-8CCCE8204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55497E9-E29E-6DD8-BFD3-3F2B5E6D4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6866B-E80D-4C2E-8D55-8F8E518706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1560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DCA7D9-FBE3-D3A9-3BB7-7BE2DE030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0B2EB60-7B72-4B9E-AFDF-AD0692298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05899-ABEF-4245-9B8D-D8F974FB884E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C98AFB3-8141-5994-9C6B-1585CD073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391E4C8-B175-22FA-B122-EAFE17466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6866B-E80D-4C2E-8D55-8F8E518706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0870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01F3682-E843-D4D7-C4E6-264DFA8EB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05899-ABEF-4245-9B8D-D8F974FB884E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15F8F05-6E36-CEFC-6E00-777D5EF4A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8CB7454-69F3-E05A-0B1B-02CF4CEFF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6866B-E80D-4C2E-8D55-8F8E518706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9305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5784FB-73FD-2943-D4FA-E363F0FD7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861522-3C2F-89F1-6BF6-CC4780BA9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3A4DD92-FF40-087B-E994-FCE7265B34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A948347-289A-4189-DB72-0DE047535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05899-ABEF-4245-9B8D-D8F974FB884E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C92F0E3-83CD-64AC-0AD1-F37373A86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52CCF39-768C-6AE0-E9AD-B51F6E21E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6866B-E80D-4C2E-8D55-8F8E518706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1294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8849AF-FB21-3F3C-345C-7F7BC8B57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919E0EF-8B34-3299-F8AA-5C46CBCFFC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5FF1F3C-25FC-84C8-824F-B7E5BBED0D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B5F164B-C116-7BEA-F67E-C029AC9F4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05899-ABEF-4245-9B8D-D8F974FB884E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A531197-3F79-8230-72C5-1D80ED9E3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E2BAD5D-BFE1-D05B-2BDE-DC2A5AF14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6866B-E80D-4C2E-8D55-8F8E518706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526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0CAFDC-191C-6604-5AA7-176AC1056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CA0042C-8FF9-A220-4E09-0B0281CAF7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18F47DA-B29B-7E6B-E18F-BDF57ED72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05899-ABEF-4245-9B8D-D8F974FB884E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40C0819-81EE-4944-F1D8-A669EEA8F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3CA53F-C99A-508B-B649-ABD27873E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6866B-E80D-4C2E-8D55-8F8E518706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2883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1895B1F-055B-B82E-8F57-25ACDA73D5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3D63ED8-57BA-0412-CA70-48AFCB4DF3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DD0F2DF-D758-79E2-EC40-2A51677AA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05899-ABEF-4245-9B8D-D8F974FB884E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723F1E-4AEE-B45B-5E94-51714F4DA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FC5C6DA-0BFC-BA7F-30FA-4FDFBFF03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6866B-E80D-4C2E-8D55-8F8E518706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2437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6CBD14-5D6C-98E0-F135-607412FF8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B7912C4-59D3-29AE-4F09-D84A15B2A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E340416-9FE5-AE24-9F7A-0538709A3B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B05899-ABEF-4245-9B8D-D8F974FB884E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51B7649-0E61-FDB2-1C3D-1D36D7F131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38074A5-CADC-A40C-BD4E-DD970831C0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46866B-E80D-4C2E-8D55-8F8E518706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3170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7E504C-D6E8-815D-637F-1861CDA5D0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556995"/>
            <a:ext cx="10515600" cy="113369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l"/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  <a:sym typeface="Times New Roman"/>
              </a:rPr>
              <a:t>Анализ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Times New Roman"/>
              </a:rPr>
              <a:t> </a:t>
            </a:r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  <a:sym typeface="Times New Roman"/>
              </a:rPr>
              <a:t>игры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Times New Roman"/>
              </a:rPr>
              <a:t> </a:t>
            </a:r>
            <a:b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Times New Roman"/>
              </a:rPr>
            </a:b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Times New Roman"/>
              </a:rPr>
              <a:t>Zombie Revolution</a:t>
            </a:r>
            <a:endParaRPr lang="en-US" sz="3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4" name="Схема 3">
            <a:extLst>
              <a:ext uri="{FF2B5EF4-FFF2-40B4-BE49-F238E27FC236}">
                <a16:creationId xmlns:a16="http://schemas.microsoft.com/office/drawing/2014/main" id="{EAE6B1C5-01B3-E112-04E7-3E26F45D06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383177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13472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105B18-38F7-2444-B059-61FE96D49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ru-RU" sz="1700" b="1" dirty="0"/>
              <a:t>Общие показатели игры: </a:t>
            </a:r>
            <a:br>
              <a:rPr lang="en-US" sz="1700" b="1" dirty="0"/>
            </a:br>
            <a:br>
              <a:rPr lang="en-US" sz="1700" b="1" dirty="0"/>
            </a:br>
            <a:br>
              <a:rPr lang="en-US" sz="1700" b="1" dirty="0"/>
            </a:br>
            <a:r>
              <a:rPr lang="ru" sz="1800" dirty="0"/>
              <a:t>Динамика регистрации игроков с июля по ноябрь 2022 года была стабильной, а вот с декабря по март 2023 г регистрироваться пользователей стало больше. В  марте было зафиксировано максимальное число человек.</a:t>
            </a:r>
            <a:br>
              <a:rPr lang="en-US" sz="1700" dirty="0"/>
            </a:br>
            <a:endParaRPr lang="en-US" sz="1700" dirty="0"/>
          </a:p>
        </p:txBody>
      </p:sp>
      <p:sp>
        <p:nvSpPr>
          <p:cNvPr id="48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oogle Shape;82;p16">
            <a:extLst>
              <a:ext uri="{FF2B5EF4-FFF2-40B4-BE49-F238E27FC236}">
                <a16:creationId xmlns:a16="http://schemas.microsoft.com/office/drawing/2014/main" id="{430A9DB1-E29C-2FDA-F1C1-74266770192F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38425" y="2170938"/>
            <a:ext cx="7562849" cy="41536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35488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B654F9-0209-6984-4DAC-8004C8CC1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53044" cy="849249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ru-RU" sz="6600" dirty="0"/>
              <a:t>Технические проблемы</a:t>
            </a:r>
            <a:endParaRPr lang="en-US" sz="6600" dirty="0"/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84BD6B95-3D71-F3E6-DF01-0FC0B603E229}"/>
              </a:ext>
            </a:extLst>
          </p:cNvPr>
          <p:cNvSpPr txBox="1">
            <a:spLocks/>
          </p:cNvSpPr>
          <p:nvPr/>
        </p:nvSpPr>
        <p:spPr>
          <a:xfrm>
            <a:off x="1006941" y="6334522"/>
            <a:ext cx="4698548" cy="1670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ru-RU" sz="6600" dirty="0"/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8E18B9E3-9462-19BA-0F4E-AF336485BA84}"/>
              </a:ext>
            </a:extLst>
          </p:cNvPr>
          <p:cNvSpPr txBox="1">
            <a:spLocks/>
          </p:cNvSpPr>
          <p:nvPr/>
        </p:nvSpPr>
        <p:spPr>
          <a:xfrm>
            <a:off x="6712430" y="6270712"/>
            <a:ext cx="5083330" cy="2946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6600" dirty="0"/>
          </a:p>
        </p:txBody>
      </p:sp>
      <p:pic>
        <p:nvPicPr>
          <p:cNvPr id="3" name="Google Shape;89;p17">
            <a:extLst>
              <a:ext uri="{FF2B5EF4-FFF2-40B4-BE49-F238E27FC236}">
                <a16:creationId xmlns:a16="http://schemas.microsoft.com/office/drawing/2014/main" id="{4BE879E5-E65E-FF8F-6892-D7506D5D5459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57500" y="2000251"/>
            <a:ext cx="6633563" cy="42704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85925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A154F4-57AA-DA61-4967-747063DBF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Маркетинговая активность</a:t>
            </a:r>
          </a:p>
        </p:txBody>
      </p:sp>
      <p:pic>
        <p:nvPicPr>
          <p:cNvPr id="5" name="Google Shape;107;p19">
            <a:extLst>
              <a:ext uri="{FF2B5EF4-FFF2-40B4-BE49-F238E27FC236}">
                <a16:creationId xmlns:a16="http://schemas.microsoft.com/office/drawing/2014/main" id="{F861A14A-1744-2DE3-00A0-2E72D4C56F8E}"/>
              </a:ext>
            </a:extLst>
          </p:cNvPr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4777316" y="1385150"/>
            <a:ext cx="6780700" cy="408537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55147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978AA5-D4CE-418A-283C-5D8D965C954C}"/>
              </a:ext>
            </a:extLst>
          </p:cNvPr>
          <p:cNvSpPr txBox="1"/>
          <p:nvPr/>
        </p:nvSpPr>
        <p:spPr>
          <a:xfrm>
            <a:off x="1028700" y="1967266"/>
            <a:ext cx="2628900" cy="254725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Фактор липучести</a:t>
            </a:r>
            <a:endParaRPr lang="en-US" sz="3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Google Shape;113;p20">
            <a:extLst>
              <a:ext uri="{FF2B5EF4-FFF2-40B4-BE49-F238E27FC236}">
                <a16:creationId xmlns:a16="http://schemas.microsoft.com/office/drawing/2014/main" id="{AC0D2BA2-EA8E-0D9B-5C59-6AAC0FE54597}"/>
              </a:ext>
            </a:extLst>
          </p:cNvPr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4777316" y="1393625"/>
            <a:ext cx="6780700" cy="406842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49754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0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B4398F-0C0A-6034-4EC3-78587D1A4F26}"/>
              </a:ext>
            </a:extLst>
          </p:cNvPr>
          <p:cNvSpPr txBox="1"/>
          <p:nvPr/>
        </p:nvSpPr>
        <p:spPr>
          <a:xfrm>
            <a:off x="640080" y="2706624"/>
            <a:ext cx="6894576" cy="3483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Финансовые показатели</a:t>
            </a:r>
          </a:p>
        </p:txBody>
      </p:sp>
      <p:pic>
        <p:nvPicPr>
          <p:cNvPr id="7" name="Google Shape;133;p23">
            <a:extLst>
              <a:ext uri="{FF2B5EF4-FFF2-40B4-BE49-F238E27FC236}">
                <a16:creationId xmlns:a16="http://schemas.microsoft.com/office/drawing/2014/main" id="{81565722-08FC-7364-C73B-DDACA0CF2EEE}"/>
              </a:ext>
            </a:extLst>
          </p:cNvPr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146109" cy="3195703"/>
          </a:xfrm>
          <a:prstGeom prst="rect">
            <a:avLst/>
          </a:prstGeom>
          <a:noFill/>
        </p:spPr>
      </p:pic>
      <p:pic>
        <p:nvPicPr>
          <p:cNvPr id="5" name="Google Shape;127;p22">
            <a:extLst>
              <a:ext uri="{FF2B5EF4-FFF2-40B4-BE49-F238E27FC236}">
                <a16:creationId xmlns:a16="http://schemas.microsoft.com/office/drawing/2014/main" id="{ECC7F8FF-782A-A83F-CD8F-2608498BF058}"/>
              </a:ext>
            </a:extLst>
          </p:cNvPr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6055447" y="3195607"/>
            <a:ext cx="6186662" cy="3662490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12E78A8-7D41-0313-F170-6A88C38B94AD}"/>
              </a:ext>
            </a:extLst>
          </p:cNvPr>
          <p:cNvSpPr txBox="1"/>
          <p:nvPr/>
        </p:nvSpPr>
        <p:spPr>
          <a:xfrm>
            <a:off x="1133475" y="190501"/>
            <a:ext cx="10232104" cy="20378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800"/>
              </a:spcAft>
            </a:pPr>
            <a:endParaRPr lang="en-US" sz="13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0607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99F233-5B6F-B405-CEFA-74D8849B1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200" b="1">
                <a:solidFill>
                  <a:schemeClr val="bg1">
                    <a:lumMod val="95000"/>
                    <a:lumOff val="5000"/>
                  </a:schemeClr>
                </a:solidFill>
              </a:rPr>
              <a:t> К-factor – это показатель виральности, который говорит о том, сколько в среднем друзей/родственников/коллег/знакомых приглашает в проект один пользователь</a:t>
            </a:r>
            <a:br>
              <a:rPr lang="en-US" sz="220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sz="2200" b="1">
                <a:solidFill>
                  <a:schemeClr val="bg1">
                    <a:lumMod val="95000"/>
                    <a:lumOff val="5000"/>
                  </a:schemeClr>
                </a:solidFill>
              </a:rPr>
              <a:t>К-factor нашей игры = 0,92</a:t>
            </a:r>
            <a:br>
              <a:rPr lang="en-US" sz="220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sz="2200" b="1">
                <a:solidFill>
                  <a:schemeClr val="bg1">
                    <a:lumMod val="95000"/>
                    <a:lumOff val="5000"/>
                  </a:schemeClr>
                </a:solidFill>
              </a:rPr>
              <a:t>  Это означает, что 100 пользователей принесут нам 100 × 0,92 = 92 новых пользователей.Далее  92 этих новых пользователя принесут нам еще  92 × 0,92 = 84 новых пользователя.</a:t>
            </a:r>
            <a:br>
              <a:rPr lang="en-US" sz="220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sz="2200" b="1">
                <a:solidFill>
                  <a:schemeClr val="bg1">
                    <a:lumMod val="95000"/>
                    <a:lumOff val="5000"/>
                  </a:schemeClr>
                </a:solidFill>
              </a:rPr>
              <a:t>Умножая исторический средний размер когорты на k-factor мы получаем ее «ожидаемый» объем с учетом «вирусности» игры = 314,89 </a:t>
            </a:r>
            <a:endParaRPr lang="en-US" sz="220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30856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7C98A213-5994-475E-B327-DC6EC27FB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D768D1-6FE3-1A80-89E6-428FE8B6B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670218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/>
              <a:t>Лояльные пользователи</a:t>
            </a:r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4B030A0D-0DAD-4A99-89BB-419527D6A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9376" y="1800088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oogle Shape;158;p27">
            <a:extLst>
              <a:ext uri="{FF2B5EF4-FFF2-40B4-BE49-F238E27FC236}">
                <a16:creationId xmlns:a16="http://schemas.microsoft.com/office/drawing/2014/main" id="{B6715A9F-BFDC-38E3-580E-8E5E2D6513A2}"/>
              </a:ext>
            </a:extLst>
          </p:cNvPr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292608" y="3290350"/>
            <a:ext cx="3758184" cy="2258908"/>
          </a:xfrm>
          <a:prstGeom prst="rect">
            <a:avLst/>
          </a:prstGeom>
          <a:noFill/>
        </p:spPr>
      </p:pic>
      <p:pic>
        <p:nvPicPr>
          <p:cNvPr id="6" name="Google Shape;152;p26">
            <a:extLst>
              <a:ext uri="{FF2B5EF4-FFF2-40B4-BE49-F238E27FC236}">
                <a16:creationId xmlns:a16="http://schemas.microsoft.com/office/drawing/2014/main" id="{16AB0737-7B78-ED8E-C7CD-011C0C9315D0}"/>
              </a:ext>
            </a:extLst>
          </p:cNvPr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216908" y="3290350"/>
            <a:ext cx="3758184" cy="2258908"/>
          </a:xfrm>
          <a:prstGeom prst="rect">
            <a:avLst/>
          </a:prstGeom>
          <a:noFill/>
        </p:spPr>
      </p:pic>
      <p:pic>
        <p:nvPicPr>
          <p:cNvPr id="8" name="Google Shape;164;p28">
            <a:extLst>
              <a:ext uri="{FF2B5EF4-FFF2-40B4-BE49-F238E27FC236}">
                <a16:creationId xmlns:a16="http://schemas.microsoft.com/office/drawing/2014/main" id="{D4F0D171-A0FA-288A-926B-FDE36E0395DB}"/>
              </a:ext>
            </a:extLst>
          </p:cNvPr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8141208" y="3341950"/>
            <a:ext cx="3758184" cy="215570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71511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170;p29">
            <a:extLst>
              <a:ext uri="{FF2B5EF4-FFF2-40B4-BE49-F238E27FC236}">
                <a16:creationId xmlns:a16="http://schemas.microsoft.com/office/drawing/2014/main" id="{2A190EE9-EFCF-2D36-D87B-16F9529A0F82}"/>
              </a:ext>
            </a:extLst>
          </p:cNvPr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2962275" y="2286000"/>
            <a:ext cx="6476233" cy="42957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29938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5CB110-C2AD-928B-9B0D-9375AA4F0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Благодарю за внимание 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5FB0C24-C320-78F2-470E-35814B487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842" y="2633472"/>
            <a:ext cx="5879268" cy="3586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85334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6870</TotalTime>
  <Words>159</Words>
  <Application>Microsoft Office PowerPoint</Application>
  <PresentationFormat>Широкоэкранный</PresentationFormat>
  <Paragraphs>14</Paragraphs>
  <Slides>10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Тема Office</vt:lpstr>
      <vt:lpstr>Анализ игры  Zombie Revolution</vt:lpstr>
      <vt:lpstr>Общие показатели игры:    Динамика регистрации игроков с июля по ноябрь 2022 года была стабильной, а вот с декабря по март 2023 г регистрироваться пользователей стало больше. В  марте было зафиксировано максимальное число человек. </vt:lpstr>
      <vt:lpstr>Технические проблемы</vt:lpstr>
      <vt:lpstr>Маркетинговая активность</vt:lpstr>
      <vt:lpstr>Презентация PowerPoint</vt:lpstr>
      <vt:lpstr>Презентация PowerPoint</vt:lpstr>
      <vt:lpstr> К-factor – это показатель виральности, который говорит о том, сколько в среднем друзей/родственников/коллег/знакомых приглашает в проект один пользователь К-factor нашей игры = 0,92   Это означает, что 100 пользователей принесут нам 100 × 0,92 = 92 новых пользователей.Далее  92 этих новых пользователя принесут нам еще  92 × 0,92 = 84 новых пользователя. Умножая исторический средний размер когорты на k-factor мы получаем ее «ожидаемый» объем с учетом «вирусности» игры = 314,89 </vt:lpstr>
      <vt:lpstr>Лояльные пользователи</vt:lpstr>
      <vt:lpstr>Презентация PowerPoint</vt:lpstr>
      <vt:lpstr>Благодарю за внимание 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 155.2</dc:creator>
  <cp:lastModifiedBy>DA 155.2</cp:lastModifiedBy>
  <cp:revision>14</cp:revision>
  <dcterms:created xsi:type="dcterms:W3CDTF">2025-10-17T08:55:32Z</dcterms:created>
  <dcterms:modified xsi:type="dcterms:W3CDTF">2026-02-18T09:04:22Z</dcterms:modified>
</cp:coreProperties>
</file>